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8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9"/>
    <p:restoredTop sz="78537"/>
  </p:normalViewPr>
  <p:slideViewPr>
    <p:cSldViewPr snapToGrid="0">
      <p:cViewPr varScale="1">
        <p:scale>
          <a:sx n="82" d="100"/>
          <a:sy n="82" d="100"/>
        </p:scale>
        <p:origin x="124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53AC3-C7F1-A74F-B35E-0E8FC09A74BA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53BECE-598B-EE4C-B351-3F5D6A1DB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37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Good Evening – I am Anand and I had selected the CSRI Product safety spotlight as the capstone project. This  presentation is an executive summary of the work we did for the last 3-4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3BECE-598B-EE4C-B351-3F5D6A1DB5E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35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discussion of consumer product safety often relies on anecdotal reports, high-profile incidents, or manufacturer marketing claims rather than systematic analysis of national injury data. The data though available, is too complex for public to interpret properly.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need to develop predictive models to identify consumer product injuries that results in hospitalization and severe medical outcomes.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primary objective is to create evidence based findings for 2025 product safety spotlight report to inform consumers, manufactures and policy makers about safety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3BECE-598B-EE4C-B351-3F5D6A1DB5E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73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Crisp-dm to execute the project, </a:t>
            </a:r>
          </a:p>
          <a:p>
            <a:r>
              <a:rPr lang="en-US" dirty="0"/>
              <a:t>Used NEISS dataset which has 7mil records and is 1GB in total size.</a:t>
            </a:r>
          </a:p>
          <a:p>
            <a:r>
              <a:rPr lang="en-US" dirty="0"/>
              <a:t>Data Volume – Creates difficulties while Training the models  as we will need better hardware to </a:t>
            </a:r>
            <a:r>
              <a:rPr lang="en-US" dirty="0" err="1"/>
              <a:t>perfrom</a:t>
            </a:r>
            <a:r>
              <a:rPr lang="en-US" dirty="0"/>
              <a:t> the training. We also cannot use the normal Chi-Sq test and needs to use </a:t>
            </a:r>
            <a:r>
              <a:rPr lang="en-US" dirty="0" err="1"/>
              <a:t>Cramers</a:t>
            </a:r>
            <a:r>
              <a:rPr lang="en-US" dirty="0"/>
              <a:t> V rule to identify the impact the features has on the target variable.</a:t>
            </a:r>
          </a:p>
          <a:p>
            <a:r>
              <a:rPr lang="en-US" dirty="0"/>
              <a:t>Class Imbalance – The dataset was highly </a:t>
            </a:r>
            <a:r>
              <a:rPr lang="en-US" dirty="0" err="1"/>
              <a:t>imbalaned</a:t>
            </a:r>
            <a:r>
              <a:rPr lang="en-US" dirty="0"/>
              <a:t> and the algorithms will thus be mathematically inclined to predict majority class</a:t>
            </a:r>
          </a:p>
          <a:p>
            <a:r>
              <a:rPr lang="en-US" dirty="0"/>
              <a:t>Some feature's like products had a High Cardinality – Creates curse of high dimensionality</a:t>
            </a:r>
          </a:p>
          <a:p>
            <a:r>
              <a:rPr lang="en-US" dirty="0"/>
              <a:t>Harmonizing Product Taxonomy Changes – Every year NEISS creates new product definitions, reclassifies products, or expiries some products. We had to make sure that the models gets enough/consistent data to perform the predictions.</a:t>
            </a:r>
          </a:p>
          <a:p>
            <a:r>
              <a:rPr lang="en-US" dirty="0"/>
              <a:t>Stratified Split (Year + Target as the stratified Key) – As the data is imbalanced, we need to use the technique of stratified split using the stratified key (year + target variable) to make sure that the Train, test and holdout sets maintain the same imbalance through the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3BECE-598B-EE4C-B351-3F5D6A1DB5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918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trained 4 estimators during the data modelling phase  (with log reg as the baseline) and evaluated the models on two metrices PR-AUC Score and MCC Score.</a:t>
            </a:r>
          </a:p>
          <a:p>
            <a:r>
              <a:rPr lang="en-US" dirty="0"/>
              <a:t>The XGBoost scored better than any models in PR-AUC metrics and the decision tree scored better than other models when MCC score was compared. </a:t>
            </a:r>
          </a:p>
          <a:p>
            <a:r>
              <a:rPr lang="en-US" dirty="0"/>
              <a:t>I selected Decision tree as the primary model due to the high MCC score (better classification for the default 0.50 threshold) and  for its interpretability.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3BECE-598B-EE4C-B351-3F5D6A1DB5E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837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Below features were identified as XGBoost as strongest predictors.</a:t>
            </a:r>
          </a:p>
          <a:p>
            <a:r>
              <a:rPr lang="en-US" dirty="0"/>
              <a:t>1. Diagnosis</a:t>
            </a:r>
          </a:p>
          <a:p>
            <a:r>
              <a:rPr lang="en-US" dirty="0"/>
              <a:t>2. Injured body part </a:t>
            </a:r>
          </a:p>
          <a:p>
            <a:r>
              <a:rPr lang="en-US" dirty="0"/>
              <a:t>3. Age Group</a:t>
            </a:r>
          </a:p>
          <a:p>
            <a:endParaRPr lang="en-US" dirty="0"/>
          </a:p>
          <a:p>
            <a:r>
              <a:rPr lang="en-US" dirty="0"/>
              <a:t>These features should guide the assessment an intervention strategies during the deployment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3BECE-598B-EE4C-B351-3F5D6A1DB5E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49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were able to identify seasonality patterns in the data. We find that</a:t>
            </a:r>
          </a:p>
          <a:p>
            <a:endParaRPr lang="en-US" dirty="0"/>
          </a:p>
          <a:p>
            <a:r>
              <a:rPr lang="en-US" dirty="0"/>
              <a:t>Injuries peaks from May – Sept (highest being in June) – reflecting months with high physical activity.</a:t>
            </a:r>
          </a:p>
          <a:p>
            <a:r>
              <a:rPr lang="en-US" dirty="0"/>
              <a:t>Lowest injury counts were observed during – Jan through Feb</a:t>
            </a:r>
          </a:p>
          <a:p>
            <a:endParaRPr lang="en-US" dirty="0"/>
          </a:p>
          <a:p>
            <a:r>
              <a:rPr lang="en-US" dirty="0"/>
              <a:t>Overall, summer months shows a 38% increase in the injuries when compared to winter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3BECE-598B-EE4C-B351-3F5D6A1DB5E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62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National Injury trends shows a stable pattern from 2005-2019 and then a dip in 2020 -2021 due to the pandemic and then recovering to post pandemic highs.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3BECE-598B-EE4C-B351-3F5D6A1DB5E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66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see 28% of all hospitalized cases are seniors (age &gt;65) – they are the highest risk group and hence needs special attention.</a:t>
            </a:r>
          </a:p>
          <a:p>
            <a:endParaRPr lang="en-US" dirty="0"/>
          </a:p>
          <a:p>
            <a:r>
              <a:rPr lang="en-US" dirty="0"/>
              <a:t>We also observe that the hospitalization is higher among females in that group.</a:t>
            </a:r>
          </a:p>
          <a:p>
            <a:endParaRPr lang="en-US" dirty="0"/>
          </a:p>
          <a:p>
            <a:r>
              <a:rPr lang="en-US" dirty="0"/>
              <a:t>Surprisingly though the Injury frequency was high in children those were often with less seviarity.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3BECE-598B-EE4C-B351-3F5D6A1DB5E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02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Risk Products</a:t>
            </a:r>
          </a:p>
          <a:p>
            <a:endParaRPr lang="en-US" dirty="0"/>
          </a:p>
          <a:p>
            <a:r>
              <a:rPr lang="en-US" dirty="0"/>
              <a:t>High Priority – Blankets, Toilets, Rugs, Ladders (Slip/Fall) – High injury volume and high hospitalization seviarity.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Hidden Dangers – Coins (Swallows), Porches, Windows  (Slip and Fall Risk) – Low injury volume but high seviarity</a:t>
            </a:r>
          </a:p>
          <a:p>
            <a:endParaRPr lang="en-US" dirty="0"/>
          </a:p>
          <a:p>
            <a:r>
              <a:rPr lang="en-US" dirty="0"/>
              <a:t>High Volume Injuries – Floors, Stairs (with Stars showing 39%higher hospitalization rate) – High injury volume with moderate-high seviarity.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3BECE-598B-EE4C-B351-3F5D6A1DB5E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264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Floors have highest injury volume but lower seviarity.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3BECE-598B-EE4C-B351-3F5D6A1DB5E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658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3BECE-598B-EE4C-B351-3F5D6A1DB5E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45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D4C81-EB7B-3E38-7941-C5947D23E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7A785-3EE8-3A8E-3182-34AA88FBA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23CBB-C610-1A9B-E22B-A73A73B95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BAD87-EF25-70DC-14A1-E870F8D7F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4C385-18EE-BFDB-467F-052FF314D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5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AE165-82D3-A20B-3867-893BDC7D6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B3447-1003-5DBC-0836-A473A38A8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B6943-7C1F-533B-7E46-878CDB7C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C0485-D688-84CF-E480-230685C77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09376-217C-6142-5871-23418A35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23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CF4E8-54A6-B7D1-D9E1-778635D0E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55912-0593-26E1-C1EE-DE378F887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AF032-C898-C2B2-E377-07994FDD3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D5A46-62A1-D01A-0F9D-8525237B5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4A166-9D05-D059-45F4-0C64F1E3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0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2CE67-322F-F044-2BB8-A443F8321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3B5B4-D3EF-6D66-7A4F-8FA3A3CAD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7B853-2264-072F-67E7-C46CCB616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D1528-BFCC-1911-EAF0-4EA1FA32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2787B-4179-73D6-9EF1-6999CC0D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569B1-57AC-F82F-A008-1889A3C8A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5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6090-E7DB-C8DD-9B7B-1A07C93B1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FF87F-4498-2683-517E-D1F4549AB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6AC13-6C37-C1CB-AB38-3ABE34442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12E4CA-FA1E-95F3-3EBC-DBDA4A205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E646E9-32AD-8BD0-5EB2-C00EEE2A60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32AA28-74DE-74E2-F93E-F97C501A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7498CE-3433-D196-128B-D2F096B76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2D435E-EE3C-2A3B-09C9-B780C89F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05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80B2-26E6-E7E3-0766-B89EA18A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3B9487-06AD-3665-6F42-EA328647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31543-E54F-0C6E-2EB9-96ABF29C6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3EA10-5C76-3800-636C-AEACE3B65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90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56F7A1-13B1-D5A9-815A-C14304C4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FF96FC-1B95-4350-D95B-2C381F018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93F46-EECB-E3A9-6207-BBEACE67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7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051F-1963-04BE-7ED1-CD569B92D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BB7B5-BBC1-0AAF-2E93-455D80795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837EC-B4C5-35CF-08AC-7D957F3FB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95697-42FE-A7AE-B497-FE35AA792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56D00-D834-6010-989B-6D469E796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8ACB0-44A5-6E62-DEA1-54E88927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58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14972-7484-7329-0157-306533429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FF17B2-A059-34BD-E526-023BEFBF8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03A5E-FEE3-E66F-0560-A9979E14D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31AA8-E710-7850-ED71-6D6EE1324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329F1-9F93-B77F-6FD3-585DB118D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DDC60-8478-696B-C0C0-A179D09DA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57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FE77-C510-2CA8-7DF7-81551C8E0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B91F0F-6488-D146-08BC-70E61E5FF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D8416-4CE5-68C5-6A81-787895426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A477E-285F-B1D8-B384-F431245F6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7EA88-1D1B-F967-5C6D-9CCCF7A12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76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41FEE5-D238-B83E-A20B-BFCD26E4E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2FD0A-1CEB-8306-0F62-B20F5204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5C56F-D98A-3278-223C-D0503CC7D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A04C2-3992-FDBA-827A-B011BDAEC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D67D0-2590-BFDB-3C4C-0493E53D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38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27A866-2D2A-B843-D43B-895B812F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31816-3B3D-1487-67D1-FB8762CB7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35AD4-6673-429E-F180-E59469EC84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1F96F-6C4A-CAED-82A7-9FD965352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0FE81-9C94-3EFA-04AE-13F90FF42C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7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9531D1-B322-A85A-04EE-4A85011A0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78F123-31F0-2BE6-FA09-9F9292F0A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8987"/>
            <a:ext cx="12192000" cy="690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83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5F947-2CB9-4202-BE31-7FBEF5BE0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365E59-DEA6-D571-19E5-516C41D03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82" y="0"/>
            <a:ext cx="11825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080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855B90-1776-F761-B65D-E946E75CF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C20D3D3-6458-2B12-AAFD-9708D6BCF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835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2C763-81FA-C5B9-3711-4F6D89220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79614F-4852-23D3-00FB-DBB6F06CD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9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76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FA22A-18B4-67E8-B278-B07B3CC6D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205776-063E-839F-1AFF-04C42A56D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4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846427-0F9D-075C-F2DD-60F9577A9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661505-1ADB-9788-8C5B-3F34DC830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87200" cy="661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0D4DC-DF45-16C5-2850-D9C58EAD4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062458-0B9F-B8DE-8C3B-C71550E99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58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2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E3A59-9A0A-DE47-99B2-29F1BCD66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17F531-768D-F765-F2CB-C412AAAE5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901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C35AE0-A5DE-C77C-ADED-DD2DBB19E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CA191F-28D6-29DC-488D-5891624C7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4" y="0"/>
            <a:ext cx="12088586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476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5A160F-103B-1FF1-576F-53321EA37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3176C4-F114-F8C5-0125-CC24EB909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87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47D91B-0D80-BC4A-E047-0F661F05B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90C335-85BC-CCF9-5872-AF2DF6054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17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C149D-C133-126B-9FA9-243321719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B2ADDA-64A8-2100-BAB7-E4F5DAA22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1778</TotalTime>
  <Words>688</Words>
  <Application>Microsoft Macintosh PowerPoint</Application>
  <PresentationFormat>Widescreen</PresentationFormat>
  <Paragraphs>54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Divakaran</dc:creator>
  <cp:lastModifiedBy>Anand Divakaran</cp:lastModifiedBy>
  <cp:revision>9</cp:revision>
  <dcterms:created xsi:type="dcterms:W3CDTF">2026-04-18T22:00:38Z</dcterms:created>
  <dcterms:modified xsi:type="dcterms:W3CDTF">2026-04-20T03:39:27Z</dcterms:modified>
</cp:coreProperties>
</file>